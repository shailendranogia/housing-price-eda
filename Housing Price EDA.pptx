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C273-79C9-E866-E73F-352EECF41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C50EC-83B5-7B8F-7EEF-8ABE04E27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C822-DB2C-5356-5C9B-F886F0B0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87760-F1BB-71FF-FD28-0599AE0A7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3A378-D9F9-D9FD-8D1F-33908DE0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992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A467-89A7-9A60-0CE4-F8D88DCB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8BD81-F271-270F-E9E4-5B449B4F6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86108-5399-5375-1001-7423AAA2A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2BA6D-C482-1F57-A1BD-7E1B326DD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F735-082D-502D-1DBE-D3C01301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BA23-16BB-5398-807A-6FB6AB99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753C2-1355-0F86-D4B0-0467FBF29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BFE6F-8D55-C6D9-9DF0-9A1060CE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2EFF3-7D09-7B13-AF83-496E60AC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B1A66-3EC0-B30A-5F56-0640D87D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51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2F97-BDAD-BF7A-D009-08CFAD61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A23B5-72A3-DE06-1760-0A7739229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AD643-A7FC-AB81-6019-CB3525CA6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F070D-F5ED-3D11-FAE9-89934B0DB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5610A-E04B-0DF0-EB65-60634C34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C1257-0D68-6E9A-3228-71DC30E9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973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B1C6-5AE7-0841-E743-95092D6C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059DB-3B20-D0DF-A3B8-3E0AAEE4F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63C38-EEA6-FB36-79CE-56BF74213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B48A-A818-F7F8-1B4E-289E410C7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F30D9-18FE-E27B-0988-92B17CED2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2D09C-4877-9A7D-2727-A153B45D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9212D-2DD2-55DB-ACEA-B24EFDBDB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2D707-414A-03FC-3205-D00BA6ED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11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876F8-19E3-75F3-BE1B-A76E3045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C31BD-8960-9F7F-6DE6-CE5023E4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ADF97-B161-6659-BA6C-B2C6DE4B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39A79-285D-63E7-D91B-81A8B03A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78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AAF77-61B2-CDD8-E118-81187476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9FDB2-281B-900A-535E-578D44A9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4C461-2710-3A2C-0BC4-194585B1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0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C071-427F-6786-CE6A-70052365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7119F-7482-BB56-023D-D70631678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195CA-A86A-1202-A2BE-6ADAAB647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2B4E5-27D3-8027-6589-A02DAE0C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8225B-316F-2E22-7911-BACE1E2D5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F7D93-BE93-C28B-8EC4-6862EA90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25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B938-92F2-2491-818D-7A1367C9F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C5B520-9D28-0C99-5911-A6F1F3C50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B1446-FC79-6D7E-E592-496837616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19D86-9141-4561-8E3E-22AFDB89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B478-AF6D-7969-E3A7-B59C0267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04E64-E358-ECD7-6117-4B4FD503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70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76CF-FEED-8B40-73BB-53C67FAB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F5F7D-454A-4E5B-81F8-451BA452D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0CE0C-5B31-8E78-D178-00B4293A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555D0-D57E-C05A-95E7-C4DE2150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45117-0988-C1E2-6211-D5E00A729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0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22139-9654-0E29-96A8-6F087256B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8644C-A26E-7768-6568-36D80A70A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2F023-0BB8-E180-4869-68D817BD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2C2E8-FE32-BCFD-A4E5-2E633B348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299A7-FC66-C2B5-2B5A-3DE1B170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62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20C7C-74AF-0189-C93D-FD5FF6A4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6DC33-3DE7-ED4B-0CE5-A753B8B46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F92B1-7946-20E6-FB45-98D7089E1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4D4A3-1D49-43A6-BB4C-09631964E3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37646-3D9F-59B7-478A-D06438813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08911-2E62-CB89-8BB7-774FFE0AB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9E2E1-6393-4627-96C6-DA585129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58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ionalpropertybuyers.co.uk/blog/home-worth/2026-property-market-outlook-will-house-prices-fall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t/thank-you.html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8015-A2F6-05D7-BEC3-C5D437E6C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8657" y="391885"/>
            <a:ext cx="6063343" cy="2394856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Exploratory Data Analysis(EDA) for Real Estate Pricing</a:t>
            </a:r>
            <a:endParaRPr lang="en-IN" sz="4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29730-3EAF-B3DB-855A-CF66C2307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5115" y="391885"/>
            <a:ext cx="5920885" cy="5998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CC05BF-EA3B-D9C4-6396-3C0DFC69E91C}"/>
              </a:ext>
            </a:extLst>
          </p:cNvPr>
          <p:cNvSpPr txBox="1"/>
          <p:nvPr/>
        </p:nvSpPr>
        <p:spPr>
          <a:xfrm>
            <a:off x="6476981" y="4071258"/>
            <a:ext cx="536669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NEXTHIKES IT SOLUTIONS PROJECT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82A61-47ED-E7DB-8E5F-EA6480B7F175}"/>
              </a:ext>
            </a:extLst>
          </p:cNvPr>
          <p:cNvSpPr txBox="1"/>
          <p:nvPr/>
        </p:nvSpPr>
        <p:spPr>
          <a:xfrm>
            <a:off x="7176389" y="3028890"/>
            <a:ext cx="372836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By: Shailendra </a:t>
            </a:r>
            <a:r>
              <a:rPr lang="en-US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Nogia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621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4D37E-8213-ABB6-4225-ED51FC3E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Project Overview: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86A67-58DB-76F9-3C3D-CDF3D6F85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 </a:t>
            </a:r>
            <a:r>
              <a:rPr lang="en-US" dirty="0"/>
              <a:t>To analyze residential housing data and identify the key factors influencing </a:t>
            </a:r>
            <a:r>
              <a:rPr lang="en-US" b="1" dirty="0"/>
              <a:t>House sale prices</a:t>
            </a:r>
            <a:r>
              <a:rPr lang="en-US" dirty="0"/>
              <a:t>, and to prepare a clean, feature-rich dataset for accurate price prediction.</a:t>
            </a:r>
          </a:p>
          <a:p>
            <a:r>
              <a:rPr lang="en-US" dirty="0"/>
              <a:t>Perform EDA includes </a:t>
            </a:r>
            <a:r>
              <a:rPr lang="en-IN" dirty="0"/>
              <a:t>Univariate, Bivariate and Multivariate analysis</a:t>
            </a:r>
          </a:p>
          <a:p>
            <a:r>
              <a:rPr lang="en-IN" dirty="0"/>
              <a:t>Perform feature engineering, and outliers treatment.</a:t>
            </a:r>
          </a:p>
          <a:p>
            <a:r>
              <a:rPr lang="en-IN" dirty="0"/>
              <a:t>Prepare data for accurate price predictions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50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270A-5F1D-FCD8-09FF-B1662AAB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Library used: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73BC0-9FC2-F0CB-37B3-8165F95FF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  <a:p>
            <a:r>
              <a:rPr lang="en-US" dirty="0"/>
              <a:t>Pandas : data manipulation</a:t>
            </a:r>
          </a:p>
          <a:p>
            <a:r>
              <a:rPr lang="en-US" dirty="0" err="1"/>
              <a:t>Numpy</a:t>
            </a:r>
            <a:r>
              <a:rPr lang="en-US" dirty="0"/>
              <a:t> : numerical operations</a:t>
            </a:r>
          </a:p>
          <a:p>
            <a:r>
              <a:rPr lang="en-US" dirty="0"/>
              <a:t>Matplotlib &amp; Seaborn: data visualization</a:t>
            </a:r>
          </a:p>
          <a:p>
            <a:r>
              <a:rPr lang="en-US" dirty="0" err="1"/>
              <a:t>Jupyter</a:t>
            </a:r>
            <a:r>
              <a:rPr lang="en-US" dirty="0"/>
              <a:t> notebook: execution</a:t>
            </a:r>
          </a:p>
        </p:txBody>
      </p:sp>
    </p:spTree>
    <p:extLst>
      <p:ext uri="{BB962C8B-B14F-4D97-AF65-F5344CB8AC3E}">
        <p14:creationId xmlns:p14="http://schemas.microsoft.com/office/powerpoint/2010/main" val="2214944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7793-8CE5-913F-C41A-AB069390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Dataset Overview: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2A2-68DD-DBFE-3AE8-DC57F34B6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734004"/>
          </a:xfrm>
        </p:spPr>
        <p:txBody>
          <a:bodyPr/>
          <a:lstStyle/>
          <a:p>
            <a:r>
              <a:rPr lang="en-US" dirty="0"/>
              <a:t>Dataset contains 1,460 residential properties with 81 features</a:t>
            </a:r>
          </a:p>
          <a:p>
            <a:r>
              <a:rPr lang="en-US" dirty="0"/>
              <a:t>Numerical and Categorical variables</a:t>
            </a:r>
          </a:p>
          <a:p>
            <a:r>
              <a:rPr lang="en-US" dirty="0"/>
              <a:t>Target variable: Sale Price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4A4D1-B109-837F-4276-D4F5B0301EA7}"/>
              </a:ext>
            </a:extLst>
          </p:cNvPr>
          <p:cNvSpPr txBox="1"/>
          <p:nvPr/>
        </p:nvSpPr>
        <p:spPr>
          <a:xfrm>
            <a:off x="838200" y="3559630"/>
            <a:ext cx="102978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Data Preprocessing:</a:t>
            </a:r>
            <a:endParaRPr lang="en-IN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45DDB-5771-5C4C-9736-82368CFA3314}"/>
              </a:ext>
            </a:extLst>
          </p:cNvPr>
          <p:cNvSpPr txBox="1"/>
          <p:nvPr/>
        </p:nvSpPr>
        <p:spPr>
          <a:xfrm>
            <a:off x="957943" y="4561114"/>
            <a:ext cx="1017814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Handle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Unnecessary columns were removed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Dataset are cleaned and prepared for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71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5F33-C6A5-190F-B592-85F66363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Univariate Analysis:</a:t>
            </a:r>
            <a:endParaRPr lang="en-IN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CA540C-9729-F3CC-423D-DF8DD91C6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045" y="1416121"/>
            <a:ext cx="6584955" cy="41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0868A-7AA4-E606-67BC-B67433DC4562}"/>
              </a:ext>
            </a:extLst>
          </p:cNvPr>
          <p:cNvSpPr txBox="1"/>
          <p:nvPr/>
        </p:nvSpPr>
        <p:spPr>
          <a:xfrm>
            <a:off x="838199" y="1704885"/>
            <a:ext cx="514894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distribution for "</a:t>
            </a:r>
            <a:r>
              <a:rPr lang="en-US" sz="2800" dirty="0" err="1"/>
              <a:t>SalePrice</a:t>
            </a:r>
            <a:r>
              <a:rPr lang="en-US" sz="2800" dirty="0"/>
              <a:t>" is right-skewed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most houses are in the lower-to-mid price range, with a few very expensive "outlier" properties.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Most sales occur between 100k and 200k.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47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E25D-3E0C-E17F-768A-7F036493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Bivariate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11EF2-20C1-7D64-1F84-1A4892456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902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Correlation with </a:t>
            </a:r>
            <a:r>
              <a:rPr lang="en-US" dirty="0" err="1"/>
              <a:t>SalePrice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- Higher value = stronger relationship with sale price.</a:t>
            </a:r>
            <a:br>
              <a:rPr lang="en-US" dirty="0"/>
            </a:br>
            <a:r>
              <a:rPr lang="en-US" dirty="0"/>
              <a:t>- Positive value = as feature increases, price increases.</a:t>
            </a:r>
          </a:p>
          <a:p>
            <a:r>
              <a:rPr lang="en-US" dirty="0" err="1"/>
              <a:t>GrLivArea</a:t>
            </a:r>
            <a:r>
              <a:rPr lang="en-US" dirty="0"/>
              <a:t> vs </a:t>
            </a:r>
            <a:r>
              <a:rPr lang="en-US" dirty="0" err="1"/>
              <a:t>SalePrice</a:t>
            </a:r>
            <a:r>
              <a:rPr lang="en-US" dirty="0"/>
              <a:t> → upward slope → bigger houses cost more </a:t>
            </a:r>
          </a:p>
          <a:p>
            <a:r>
              <a:rPr lang="en-US" dirty="0" err="1"/>
              <a:t>OverallQual</a:t>
            </a:r>
            <a:r>
              <a:rPr lang="en-US" dirty="0"/>
              <a:t> vs </a:t>
            </a:r>
            <a:r>
              <a:rPr lang="en-US" dirty="0" err="1"/>
              <a:t>SalePrice</a:t>
            </a:r>
            <a:r>
              <a:rPr lang="en-US" dirty="0"/>
              <a:t> → step-like pattern → quality drastically affects price  </a:t>
            </a:r>
          </a:p>
          <a:p>
            <a:r>
              <a:rPr lang="en-US" dirty="0" err="1"/>
              <a:t>LotArea</a:t>
            </a:r>
            <a:r>
              <a:rPr lang="en-US" dirty="0"/>
              <a:t> vs </a:t>
            </a:r>
            <a:r>
              <a:rPr lang="en-US" dirty="0" err="1"/>
              <a:t>SalePrice</a:t>
            </a:r>
            <a:r>
              <a:rPr lang="en-US" dirty="0"/>
              <a:t> → weaker relationship, more spread.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A53472-A8ED-33C2-A5CC-2F3611F4D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43" y="735240"/>
            <a:ext cx="4366375" cy="2804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0BD15D-FF6E-AA96-B8DB-CD0210E5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43" y="3600678"/>
            <a:ext cx="4397522" cy="289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11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B304-0337-3956-F584-EEF26495F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Multivariate Analysis: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ABFB-9F4B-A33B-0192-960740A19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SalePrice</a:t>
            </a:r>
            <a:r>
              <a:rPr lang="en-US" dirty="0"/>
              <a:t> → Target / what we want to predict</a:t>
            </a:r>
          </a:p>
          <a:p>
            <a:r>
              <a:rPr lang="en-US" dirty="0" err="1"/>
              <a:t>GrLivArea</a:t>
            </a:r>
            <a:r>
              <a:rPr lang="en-US" dirty="0"/>
              <a:t> → Above-ground living area (square feet) — strong size indicator</a:t>
            </a:r>
          </a:p>
          <a:p>
            <a:r>
              <a:rPr lang="en-US" dirty="0" err="1"/>
              <a:t>OverallQual</a:t>
            </a:r>
            <a:r>
              <a:rPr lang="en-US" dirty="0"/>
              <a:t> → Quality rating (1–10) — biggest price driver</a:t>
            </a:r>
          </a:p>
          <a:p>
            <a:r>
              <a:rPr lang="en-US" dirty="0" err="1"/>
              <a:t>GarageCars</a:t>
            </a:r>
            <a:r>
              <a:rPr lang="en-US" dirty="0"/>
              <a:t> → How many cars garage can hold — affects value</a:t>
            </a:r>
          </a:p>
          <a:p>
            <a:r>
              <a:rPr lang="en-US" dirty="0" err="1"/>
              <a:t>TotalBsmtSF</a:t>
            </a:r>
            <a:r>
              <a:rPr lang="en-US" dirty="0"/>
              <a:t> → Basement size — extra usable space increases price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032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A27F-A16A-6726-5EB7-7B08025C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Feature Engineering: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9D27C-DA01-E667-28D5-1C69E4C98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4629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Feature engineering involves creating new variables that contains important information not explicitly present in the dataset.</a:t>
            </a:r>
          </a:p>
          <a:p>
            <a:r>
              <a:rPr lang="en-US" dirty="0"/>
              <a:t>In this step, new features are created to better explaining House pricing.</a:t>
            </a:r>
          </a:p>
          <a:p>
            <a:r>
              <a:rPr lang="en-IN" b="1" dirty="0"/>
              <a:t>Created New Features:</a:t>
            </a:r>
          </a:p>
          <a:p>
            <a:r>
              <a:rPr lang="en-IN" dirty="0" err="1"/>
              <a:t>HouseAge</a:t>
            </a:r>
            <a:r>
              <a:rPr lang="en-IN" dirty="0"/>
              <a:t> = </a:t>
            </a:r>
            <a:r>
              <a:rPr lang="en-IN" dirty="0" err="1"/>
              <a:t>YrSold</a:t>
            </a:r>
            <a:r>
              <a:rPr lang="en-IN" dirty="0"/>
              <a:t> − </a:t>
            </a:r>
            <a:r>
              <a:rPr lang="en-IN" dirty="0" err="1"/>
              <a:t>YearBuilt</a:t>
            </a:r>
            <a:endParaRPr lang="en-IN" dirty="0"/>
          </a:p>
          <a:p>
            <a:r>
              <a:rPr lang="en-IN" dirty="0" err="1"/>
              <a:t>TotalArea</a:t>
            </a:r>
            <a:r>
              <a:rPr lang="en-IN" dirty="0"/>
              <a:t> = </a:t>
            </a:r>
            <a:r>
              <a:rPr lang="en-IN" dirty="0" err="1"/>
              <a:t>GrLivArea</a:t>
            </a:r>
            <a:r>
              <a:rPr lang="en-IN" dirty="0"/>
              <a:t> + </a:t>
            </a:r>
            <a:r>
              <a:rPr lang="en-IN" dirty="0" err="1"/>
              <a:t>TotalBsmtSF</a:t>
            </a:r>
            <a:endParaRPr lang="en-IN" dirty="0"/>
          </a:p>
          <a:p>
            <a:r>
              <a:rPr lang="en-IN" dirty="0" err="1"/>
              <a:t>TotalBathrooms</a:t>
            </a:r>
            <a:r>
              <a:rPr lang="en-IN" dirty="0"/>
              <a:t> = Full + Half + Basement baths</a:t>
            </a:r>
          </a:p>
          <a:p>
            <a:r>
              <a:rPr lang="en-IN" dirty="0" err="1"/>
              <a:t>TotalPorchArea</a:t>
            </a:r>
            <a:r>
              <a:rPr lang="en-IN" dirty="0"/>
              <a:t> = Open + Enclosed + Screen Porch</a:t>
            </a:r>
          </a:p>
          <a:p>
            <a:r>
              <a:rPr lang="en-IN" dirty="0" err="1"/>
              <a:t>IsRemodeled</a:t>
            </a:r>
            <a:r>
              <a:rPr lang="en-IN" dirty="0"/>
              <a:t> = </a:t>
            </a:r>
            <a:r>
              <a:rPr lang="en-IN" dirty="0" err="1"/>
              <a:t>YearBuilt</a:t>
            </a:r>
            <a:r>
              <a:rPr lang="en-IN" dirty="0"/>
              <a:t> ≠ </a:t>
            </a:r>
            <a:r>
              <a:rPr lang="en-IN" dirty="0" err="1"/>
              <a:t>YearRemodAdd</a:t>
            </a:r>
            <a:endParaRPr lang="en-IN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C300C-B520-E037-A5F6-3824F7DBF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29" y="1825625"/>
            <a:ext cx="5866510" cy="18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4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3079-C497-F5BF-1F48-19837CC8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Feature Engineering &amp; Size impact: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7AB67-6658-67C7-2779-20504E976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943" y="3671927"/>
            <a:ext cx="10591800" cy="3562804"/>
          </a:xfrm>
        </p:spPr>
        <p:txBody>
          <a:bodyPr/>
          <a:lstStyle/>
          <a:p>
            <a:r>
              <a:rPr lang="en-IN" dirty="0" err="1"/>
              <a:t>TotalLivArea</a:t>
            </a:r>
            <a:r>
              <a:rPr lang="en-IN" dirty="0"/>
              <a:t> = usable indoor space → strongest predictor</a:t>
            </a:r>
          </a:p>
          <a:p>
            <a:r>
              <a:rPr lang="en-IN" dirty="0" err="1"/>
              <a:t>TotalArea</a:t>
            </a:r>
            <a:r>
              <a:rPr lang="en-IN" dirty="0"/>
              <a:t> = basement + </a:t>
            </a:r>
            <a:r>
              <a:rPr lang="en-IN" dirty="0" err="1"/>
              <a:t>livable</a:t>
            </a:r>
            <a:r>
              <a:rPr lang="en-IN" dirty="0"/>
              <a:t> → detects luxury homes</a:t>
            </a:r>
          </a:p>
          <a:p>
            <a:r>
              <a:rPr lang="en-IN" dirty="0" err="1"/>
              <a:t>TotalFloorArea</a:t>
            </a:r>
            <a:r>
              <a:rPr lang="en-IN" dirty="0"/>
              <a:t> = footprint * floors → indicates vertical space</a:t>
            </a:r>
          </a:p>
          <a:p>
            <a:r>
              <a:rPr lang="en-IN" dirty="0" err="1"/>
              <a:t>AreaPerRoom</a:t>
            </a:r>
            <a:r>
              <a:rPr lang="en-IN" dirty="0"/>
              <a:t> = room spaciousness → higher spaciousness = higher price</a:t>
            </a:r>
          </a:p>
          <a:p>
            <a:r>
              <a:rPr lang="en-IN" dirty="0" err="1"/>
              <a:t>HouseFootprint</a:t>
            </a:r>
            <a:r>
              <a:rPr lang="en-IN" dirty="0"/>
              <a:t> = house-to-land ratio → shows construction density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EC3BF-041F-EAF3-2E3C-173D9CF11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785" y="1404670"/>
            <a:ext cx="7571127" cy="202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34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C92B-0203-C453-1C78-90375BD4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Key Observations: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00D3D-F4E8-93EA-BE8B-5945C66D3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TotalLivArea</a:t>
            </a:r>
            <a:r>
              <a:rPr lang="en-US" dirty="0"/>
              <a:t> is the strongest size predictor — models rely heavily on it</a:t>
            </a:r>
          </a:p>
          <a:p>
            <a:r>
              <a:rPr lang="en-US" dirty="0"/>
              <a:t>Basement adds meaningful value, even though it’s not fully livable</a:t>
            </a:r>
          </a:p>
          <a:p>
            <a:r>
              <a:rPr lang="en-US" dirty="0"/>
              <a:t>More rooms doesn't always mean higher price, but larger rooms do</a:t>
            </a:r>
          </a:p>
          <a:p>
            <a:r>
              <a:rPr lang="en-US" dirty="0" err="1"/>
              <a:t>LotArea</a:t>
            </a:r>
            <a:r>
              <a:rPr lang="en-US" dirty="0"/>
              <a:t> has lower impact — neighborhood &amp; zoning matter more than raw land size</a:t>
            </a:r>
          </a:p>
          <a:p>
            <a:r>
              <a:rPr lang="en-US" dirty="0"/>
              <a:t>Garage size contributes, but number of garage cars contributes more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572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1EB86-C331-3256-C467-45ECACF4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Market Trends &amp; Historical Pricing: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86F61E-0D42-273D-B7D3-AE8B39855A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6696"/>
            <a:ext cx="1042509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house prices fluctuated over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 dip around 2008–2009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followed by gradual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Newer and recently remodeled homes sold at higher prices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Price-per-square-foot provided clearer market trends than raw prices</a:t>
            </a:r>
          </a:p>
        </p:txBody>
      </p:sp>
    </p:spTree>
    <p:extLst>
      <p:ext uri="{BB962C8B-B14F-4D97-AF65-F5344CB8AC3E}">
        <p14:creationId xmlns:p14="http://schemas.microsoft.com/office/powerpoint/2010/main" val="1419878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BA9E-0A40-A11C-254B-E07FD48AD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Customer Preferences &amp; Amenities: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F2994-0295-0CE6-DEA6-AF4EB4013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Valued Amenities</a:t>
            </a:r>
          </a:p>
          <a:p>
            <a:r>
              <a:rPr lang="en-US" dirty="0"/>
              <a:t>Garage capacity (≥2 cars)</a:t>
            </a:r>
          </a:p>
          <a:p>
            <a:r>
              <a:rPr lang="en-US" dirty="0"/>
              <a:t>Central air conditioning</a:t>
            </a:r>
          </a:p>
          <a:p>
            <a:r>
              <a:rPr lang="en-US" dirty="0"/>
              <a:t>Fireplaces</a:t>
            </a:r>
          </a:p>
          <a:p>
            <a:r>
              <a:rPr lang="en-US" dirty="0"/>
              <a:t>Finished basements</a:t>
            </a:r>
          </a:p>
          <a:p>
            <a:r>
              <a:rPr lang="en-US" dirty="0"/>
              <a:t>Outdoor spaces (porches/decks)</a:t>
            </a:r>
          </a:p>
          <a:p>
            <a:r>
              <a:rPr lang="en-US" dirty="0"/>
              <a:t>Pools increased value only for premium homes</a:t>
            </a:r>
          </a:p>
          <a:p>
            <a:r>
              <a:rPr lang="en-US" dirty="0"/>
              <a:t>Buyers prefer comfort + functionality over just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270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26F4-994A-9403-0E4A-0BB0BC3A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Key Insights: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E8021-807E-5417-D4CC-63DD488B7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Quality + Size together drive pricing</a:t>
            </a:r>
          </a:p>
          <a:p>
            <a:r>
              <a:rPr lang="en-US" dirty="0"/>
              <a:t>Living area is more important than land area</a:t>
            </a:r>
          </a:p>
          <a:p>
            <a:r>
              <a:rPr lang="en-US" dirty="0"/>
              <a:t>Amenities significantly influence buyer decisions</a:t>
            </a:r>
          </a:p>
          <a:p>
            <a:r>
              <a:rPr lang="en-US" dirty="0"/>
              <a:t>Feature engineering improved data expressiveness</a:t>
            </a:r>
          </a:p>
          <a:p>
            <a:r>
              <a:rPr lang="en-US" dirty="0"/>
              <a:t>Outlier handling enhanced model readiness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33DC4-40D7-DB34-AF77-4386C619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Conclusion: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0EEAB-F0B6-BBEF-E614-A45943566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House prices are mainly influenced by </a:t>
            </a:r>
            <a:r>
              <a:rPr lang="en-US" b="1" dirty="0"/>
              <a:t>living area and overall quality</a:t>
            </a:r>
            <a:r>
              <a:rPr lang="en-US" dirty="0"/>
              <a:t>.</a:t>
            </a:r>
          </a:p>
          <a:p>
            <a:r>
              <a:rPr lang="en-US" b="1" dirty="0"/>
              <a:t>Feature engineering</a:t>
            </a:r>
            <a:r>
              <a:rPr lang="en-US" dirty="0"/>
              <a:t> (total area, house age, amenities) improved data representation.</a:t>
            </a:r>
          </a:p>
          <a:p>
            <a:r>
              <a:rPr lang="en-US" b="1" dirty="0"/>
              <a:t>Outlier treatment</a:t>
            </a:r>
            <a:r>
              <a:rPr lang="en-US" dirty="0"/>
              <a:t> reduced skewness while preserving high-value homes</a:t>
            </a:r>
          </a:p>
          <a:p>
            <a:r>
              <a:rPr lang="en-US" dirty="0"/>
              <a:t>Buyers prefer </a:t>
            </a:r>
            <a:r>
              <a:rPr lang="en-US" b="1" dirty="0"/>
              <a:t>larger homes </a:t>
            </a:r>
            <a:r>
              <a:rPr lang="en-US" dirty="0"/>
              <a:t>with</a:t>
            </a:r>
            <a:r>
              <a:rPr lang="en-US" b="1" dirty="0"/>
              <a:t> good quality, garages, and modern amenities</a:t>
            </a:r>
            <a:r>
              <a:rPr lang="en-US" dirty="0"/>
              <a:t>.</a:t>
            </a:r>
          </a:p>
          <a:p>
            <a:r>
              <a:rPr lang="en-US" dirty="0"/>
              <a:t>The dataset is now </a:t>
            </a:r>
            <a:r>
              <a:rPr lang="en-US" b="1" dirty="0"/>
              <a:t>clean, informative, and ready for accurate price prediction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923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A489-337B-5A34-F90E-D0D7C783C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What Next ?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37DBB-B827-FABF-4E16-E23998FD7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advanced regression models (Random Forest, 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r>
              <a:rPr lang="en-US" dirty="0"/>
              <a:t>Improve accuracy using feature selection &amp; hyperparameter tuning</a:t>
            </a:r>
          </a:p>
          <a:p>
            <a:r>
              <a:rPr lang="en-US" dirty="0"/>
              <a:t>Deploy the model using </a:t>
            </a:r>
            <a:r>
              <a:rPr lang="en-US" b="1" dirty="0" err="1"/>
              <a:t>Streamlit</a:t>
            </a:r>
            <a:r>
              <a:rPr lang="en-US" dirty="0"/>
              <a:t> for real-time price prediction</a:t>
            </a:r>
          </a:p>
          <a:p>
            <a:r>
              <a:rPr lang="en-US" dirty="0"/>
              <a:t>Extend analysis with external market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51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D877A8-777C-2CB9-5FA5-02235CF98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07174" y="544286"/>
            <a:ext cx="8449016" cy="5632677"/>
          </a:xfrm>
        </p:spPr>
      </p:pic>
    </p:spTree>
    <p:extLst>
      <p:ext uri="{BB962C8B-B14F-4D97-AF65-F5344CB8AC3E}">
        <p14:creationId xmlns:p14="http://schemas.microsoft.com/office/powerpoint/2010/main" val="1808925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687</Words>
  <Application>Microsoft Office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Exploratory Data Analysis(EDA) for Real Estate Pricing</vt:lpstr>
      <vt:lpstr>Project Overview: </vt:lpstr>
      <vt:lpstr>Library used:</vt:lpstr>
      <vt:lpstr>Dataset Overview:</vt:lpstr>
      <vt:lpstr>Univariate Analysis:</vt:lpstr>
      <vt:lpstr>Bivariate Analysis:</vt:lpstr>
      <vt:lpstr>Multivariate Analysis:</vt:lpstr>
      <vt:lpstr>Feature Engineering:</vt:lpstr>
      <vt:lpstr>Feature Engineering &amp; Size impact:</vt:lpstr>
      <vt:lpstr>Key Observations:</vt:lpstr>
      <vt:lpstr>Market Trends &amp; Historical Pricing:</vt:lpstr>
      <vt:lpstr>Customer Preferences &amp; Amenities:</vt:lpstr>
      <vt:lpstr>Key Insights:</vt:lpstr>
      <vt:lpstr>Conclusion:</vt:lpstr>
      <vt:lpstr>What Next 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shailendranogia@gmail.com</dc:creator>
  <cp:lastModifiedBy>shailendranogia@gmail.com</cp:lastModifiedBy>
  <cp:revision>19</cp:revision>
  <dcterms:created xsi:type="dcterms:W3CDTF">2026-02-12T09:01:20Z</dcterms:created>
  <dcterms:modified xsi:type="dcterms:W3CDTF">2026-02-14T17:44:57Z</dcterms:modified>
</cp:coreProperties>
</file>